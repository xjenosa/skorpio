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485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C7710E-F28E-46A0-A889-5E603E3F4A1E}" type="datetimeFigureOut">
              <a:rPr lang="en-US" smtClean="0"/>
              <a:t>23-May-26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E40735-57DF-4E1C-8D9E-7F078B35F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846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40735-57DF-4E1C-8D9E-7F078B35F9A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643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23-May-26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338560" y="502920"/>
            <a:ext cx="101600" cy="101600"/>
          </a:xfrm>
          <a:prstGeom prst="ellipse">
            <a:avLst/>
          </a:prstGeom>
          <a:solidFill>
            <a:srgbClr val="F38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149840" y="4572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F6C63"/>
                </a:solidFill>
                <a:latin typeface="Consolas"/>
              </a:rPr>
              <a:t>GRID ·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00" b="1">
                <a:solidFill>
                  <a:srgbClr val="FAF9F5"/>
                </a:solidFill>
                <a:latin typeface="Calibri"/>
              </a:rPr>
              <a:t>SK</a:t>
            </a:r>
            <a:r>
              <a:rPr sz="1400" b="1">
                <a:solidFill>
                  <a:srgbClr val="F38764"/>
                </a:solidFill>
                <a:latin typeface="Calibri"/>
              </a:rPr>
              <a:t>O</a:t>
            </a:r>
            <a:r>
              <a:rPr sz="1400" b="1">
                <a:solidFill>
                  <a:srgbClr val="FAF9F5"/>
                </a:solidFill>
                <a:latin typeface="Calibri"/>
              </a:rPr>
              <a:t>RPIO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F6C63"/>
                </a:solidFill>
                <a:latin typeface="Consolas"/>
              </a:rPr>
              <a:t>PLANNER DASHBOARD · V0.2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800" b="0" i="0">
                <a:solidFill>
                  <a:srgbClr val="FAF9F5"/>
                </a:solidFill>
                <a:latin typeface="Georgia"/>
              </a:rPr>
              <a:t>Reason about the grid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800" b="0" i="1">
                <a:solidFill>
                  <a:srgbClr val="F38764"/>
                </a:solidFill>
                <a:latin typeface="Georgia"/>
              </a:rPr>
              <a:t>from one prompt.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B3B1A8"/>
                </a:solidFill>
                <a:latin typeface="Calibri"/>
              </a:rPr>
              <a:t>An AI co-pilot for the people who plan Canada's electricity grid.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F6C63"/>
                </a:solidFill>
                <a:latin typeface="Consolas"/>
              </a:rPr>
              <a:t>SENECA HACKATHON · SMART GRID RESILIENCE &amp; PREPARING FOR ELECTRIFICATION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FAF9F5"/>
                </a:solidFill>
                <a:latin typeface="Calibri"/>
              </a:rPr>
              <a:t>SK</a:t>
            </a:r>
            <a:r>
              <a:rPr sz="1200" b="1">
                <a:solidFill>
                  <a:srgbClr val="F38764"/>
                </a:solidFill>
                <a:latin typeface="Calibri"/>
              </a:rPr>
              <a:t>O</a:t>
            </a:r>
            <a:r>
              <a:rPr sz="1200" b="1">
                <a:solidFill>
                  <a:srgbClr val="FAF9F5"/>
                </a:solidFill>
                <a:latin typeface="Calibri"/>
              </a:rPr>
              <a:t>RPIO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F6C63"/>
                </a:solidFill>
                <a:latin typeface="Consolas"/>
              </a:rPr>
              <a:t>01 ·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F6C63"/>
                </a:solidFill>
                <a:latin typeface="Consolas"/>
              </a:rPr>
              <a:t>01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0" i="0">
                <a:solidFill>
                  <a:srgbClr val="FAF9F5"/>
                </a:solidFill>
                <a:latin typeface="Georgia"/>
              </a:rPr>
              <a:t>Canada's grid is being asked to do more than ever.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109728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>
                <a:solidFill>
                  <a:srgbClr val="F38764"/>
                </a:solidFill>
                <a:latin typeface="Calibri"/>
              </a:rPr>
              <a:t>—  </a:t>
            </a:r>
            <a:r>
              <a:rPr sz="1800" b="1">
                <a:solidFill>
                  <a:srgbClr val="FAF9F5"/>
                </a:solidFill>
                <a:latin typeface="Calibri"/>
              </a:rPr>
              <a:t>Electric cars and heat pumps</a:t>
            </a:r>
            <a:r>
              <a:rPr sz="1800">
                <a:solidFill>
                  <a:srgbClr val="B3B1A8"/>
                </a:solidFill>
                <a:latin typeface="Calibri"/>
              </a:rPr>
              <a:t> are changing how much power we use, faster than utilities can plan for.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>
                <a:solidFill>
                  <a:srgbClr val="F38764"/>
                </a:solidFill>
                <a:latin typeface="Calibri"/>
              </a:rPr>
              <a:t>—  </a:t>
            </a:r>
            <a:r>
              <a:rPr sz="1800" b="1">
                <a:solidFill>
                  <a:srgbClr val="FAF9F5"/>
                </a:solidFill>
                <a:latin typeface="Calibri"/>
              </a:rPr>
              <a:t>Extreme weather</a:t>
            </a:r>
            <a:r>
              <a:rPr sz="1800">
                <a:solidFill>
                  <a:srgbClr val="B3B1A8"/>
                </a:solidFill>
                <a:latin typeface="Calibri"/>
              </a:rPr>
              <a:t> like deep-freezes and heatwaves puts the grid — and people — at risk.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>
                <a:solidFill>
                  <a:srgbClr val="F38764"/>
                </a:solidFill>
                <a:latin typeface="Calibri"/>
              </a:rPr>
              <a:t>—  </a:t>
            </a:r>
            <a:r>
              <a:rPr sz="1800" b="1">
                <a:solidFill>
                  <a:srgbClr val="FAF9F5"/>
                </a:solidFill>
                <a:latin typeface="Calibri"/>
              </a:rPr>
              <a:t>Big grid decisions</a:t>
            </a:r>
            <a:r>
              <a:rPr sz="1800">
                <a:solidFill>
                  <a:srgbClr val="B3B1A8"/>
                </a:solidFill>
                <a:latin typeface="Calibri"/>
              </a:rPr>
              <a:t> still take months, cost millions, and rely on outside consultants.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800">
                <a:solidFill>
                  <a:srgbClr val="F38764"/>
                </a:solidFill>
                <a:latin typeface="Calibri"/>
              </a:rPr>
              <a:t>—  </a:t>
            </a:r>
            <a:r>
              <a:rPr sz="1800" b="1">
                <a:solidFill>
                  <a:srgbClr val="FAF9F5"/>
                </a:solidFill>
                <a:latin typeface="Calibri"/>
              </a:rPr>
              <a:t>Today's tools are stuck</a:t>
            </a:r>
            <a:r>
              <a:rPr sz="1800">
                <a:solidFill>
                  <a:srgbClr val="B3B1A8"/>
                </a:solidFill>
                <a:latin typeface="Calibri"/>
              </a:rPr>
              <a:t> in spreadsheets — planners juggle weather, maps, and grid data by hand.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FAF9F5"/>
                </a:solidFill>
                <a:latin typeface="Calibri"/>
              </a:rPr>
              <a:t>SK</a:t>
            </a:r>
            <a:r>
              <a:rPr sz="1200" b="1">
                <a:solidFill>
                  <a:srgbClr val="F38764"/>
                </a:solidFill>
                <a:latin typeface="Calibri"/>
              </a:rPr>
              <a:t>O</a:t>
            </a:r>
            <a:r>
              <a:rPr sz="1200" b="1">
                <a:solidFill>
                  <a:srgbClr val="FAF9F5"/>
                </a:solidFill>
                <a:latin typeface="Calibri"/>
              </a:rPr>
              <a:t>RPIO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F6C63"/>
                </a:solidFill>
                <a:latin typeface="Consolas"/>
              </a:rPr>
              <a:t>02 · 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F6C63"/>
                </a:solidFill>
                <a:latin typeface="Consolas"/>
              </a:rPr>
              <a:t>02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0" i="0">
                <a:solidFill>
                  <a:srgbClr val="FAF9F5"/>
                </a:solidFill>
                <a:latin typeface="Georgia"/>
              </a:rPr>
              <a:t>One question. Five tools. The AI picks the right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109728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>
                <a:solidFill>
                  <a:srgbClr val="F38764"/>
                </a:solidFill>
                <a:latin typeface="Calibri"/>
              </a:rPr>
              <a:t>—  </a:t>
            </a:r>
            <a:r>
              <a:rPr sz="1700" b="1">
                <a:solidFill>
                  <a:srgbClr val="FAF9F5"/>
                </a:solidFill>
                <a:latin typeface="Calibri"/>
              </a:rPr>
              <a:t>Just type what you need —</a:t>
            </a:r>
            <a:r>
              <a:rPr sz="1700">
                <a:solidFill>
                  <a:srgbClr val="B3B1A8"/>
                </a:solidFill>
                <a:latin typeface="Calibri"/>
              </a:rPr>
              <a:t> no settings, no forms, no jargon.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>
                <a:solidFill>
                  <a:srgbClr val="F38764"/>
                </a:solidFill>
                <a:latin typeface="Calibri"/>
              </a:rPr>
              <a:t>—  </a:t>
            </a:r>
            <a:r>
              <a:rPr sz="1700" b="1">
                <a:solidFill>
                  <a:srgbClr val="FAF9F5"/>
                </a:solidFill>
                <a:latin typeface="Calibri"/>
              </a:rPr>
              <a:t>An AI assistant</a:t>
            </a:r>
            <a:r>
              <a:rPr sz="1700">
                <a:solidFill>
                  <a:srgbClr val="B3B1A8"/>
                </a:solidFill>
                <a:latin typeface="Calibri"/>
              </a:rPr>
              <a:t> picks the right kind of analysis for your question.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>
                <a:solidFill>
                  <a:srgbClr val="F38764"/>
                </a:solidFill>
                <a:latin typeface="Calibri"/>
              </a:rPr>
              <a:t>—  </a:t>
            </a:r>
            <a:r>
              <a:rPr sz="1700" b="1">
                <a:solidFill>
                  <a:srgbClr val="FAF9F5"/>
                </a:solidFill>
                <a:latin typeface="Calibri"/>
              </a:rPr>
              <a:t>Watch it think live —</a:t>
            </a:r>
            <a:r>
              <a:rPr sz="1700">
                <a:solidFill>
                  <a:srgbClr val="B3B1A8"/>
                </a:solidFill>
                <a:latin typeface="Calibri"/>
              </a:rPr>
              <a:t> every step, every data source, in real time.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>
                <a:solidFill>
                  <a:srgbClr val="F38764"/>
                </a:solidFill>
                <a:latin typeface="Calibri"/>
              </a:rPr>
              <a:t>—  </a:t>
            </a:r>
            <a:r>
              <a:rPr sz="1700" b="1">
                <a:solidFill>
                  <a:srgbClr val="FAF9F5"/>
                </a:solidFill>
                <a:latin typeface="Calibri"/>
              </a:rPr>
              <a:t>Powered by Claude AI</a:t>
            </a:r>
            <a:r>
              <a:rPr sz="1700">
                <a:solidFill>
                  <a:srgbClr val="B3B1A8"/>
                </a:solidFill>
                <a:latin typeface="Calibri"/>
              </a:rPr>
              <a:t> with custom tools we built for energy data.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>
                <a:solidFill>
                  <a:srgbClr val="F38764"/>
                </a:solidFill>
                <a:latin typeface="Calibri"/>
              </a:rPr>
              <a:t>—  </a:t>
            </a:r>
            <a:r>
              <a:rPr sz="1700" b="1">
                <a:solidFill>
                  <a:srgbClr val="FAF9F5"/>
                </a:solidFill>
                <a:latin typeface="Calibri"/>
              </a:rPr>
              <a:t>Easy to grow —</a:t>
            </a:r>
            <a:r>
              <a:rPr sz="1700">
                <a:solidFill>
                  <a:srgbClr val="B3B1A8"/>
                </a:solidFill>
                <a:latin typeface="Calibri"/>
              </a:rPr>
              <a:t> new analysis types can be added without rebuilding the app.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FAF9F5"/>
                </a:solidFill>
                <a:latin typeface="Calibri"/>
              </a:rPr>
              <a:t>SK</a:t>
            </a:r>
            <a:r>
              <a:rPr sz="1200" b="1">
                <a:solidFill>
                  <a:srgbClr val="F38764"/>
                </a:solidFill>
                <a:latin typeface="Calibri"/>
              </a:rPr>
              <a:t>O</a:t>
            </a:r>
            <a:r>
              <a:rPr sz="1200" b="1">
                <a:solidFill>
                  <a:srgbClr val="FAF9F5"/>
                </a:solidFill>
                <a:latin typeface="Calibri"/>
              </a:rPr>
              <a:t>RPIO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F6C63"/>
                </a:solidFill>
                <a:latin typeface="Consolas"/>
              </a:rPr>
              <a:t>03 ·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F6C63"/>
                </a:solidFill>
                <a:latin typeface="Consolas"/>
              </a:rPr>
              <a:t>03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0" i="0">
                <a:solidFill>
                  <a:srgbClr val="FAF9F5"/>
                </a:solidFill>
                <a:latin typeface="Georgia"/>
              </a:rPr>
              <a:t>Five tools, one assistant.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26080"/>
            <a:ext cx="11064240" cy="658368"/>
          </a:xfrm>
          <a:prstGeom prst="rect">
            <a:avLst/>
          </a:prstGeom>
          <a:solidFill>
            <a:srgbClr val="16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2926080"/>
            <a:ext cx="54864" cy="658368"/>
          </a:xfrm>
          <a:prstGeom prst="rect">
            <a:avLst/>
          </a:prstGeom>
          <a:solidFill>
            <a:srgbClr val="F38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" y="3172968"/>
            <a:ext cx="152400" cy="152400"/>
          </a:xfrm>
          <a:prstGeom prst="ellipse">
            <a:avLst/>
          </a:prstGeom>
          <a:solidFill>
            <a:srgbClr val="F38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306324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38764"/>
                </a:solidFill>
                <a:latin typeface="Calibri"/>
              </a:rPr>
              <a:t>Datacenter Siting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29184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B3B1A8"/>
                </a:solidFill>
                <a:latin typeface="Calibri"/>
              </a:rPr>
              <a:t>Finds the best place in Canada to build a new AI data center, balancing carbon intensity, latency, and cost.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11064240" cy="658368"/>
          </a:xfrm>
          <a:prstGeom prst="rect">
            <a:avLst/>
          </a:prstGeom>
          <a:solidFill>
            <a:srgbClr val="16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54864" cy="658368"/>
          </a:xfrm>
          <a:prstGeom prst="rect">
            <a:avLst/>
          </a:prstGeom>
          <a:solidFill>
            <a:srgbClr val="7AA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77240" y="3904488"/>
            <a:ext cx="152400" cy="152400"/>
          </a:xfrm>
          <a:prstGeom prst="ellipse">
            <a:avLst/>
          </a:prstGeom>
          <a:solidFill>
            <a:srgbClr val="7AA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379476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7AA2F7"/>
                </a:solidFill>
                <a:latin typeface="Calibri"/>
              </a:rPr>
              <a:t>Expansion Planner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02336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B3B1A8"/>
                </a:solidFill>
                <a:latin typeface="Calibri"/>
              </a:rPr>
              <a:t>Figures out how to grow an existing data center site.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389120"/>
            <a:ext cx="11064240" cy="658368"/>
          </a:xfrm>
          <a:prstGeom prst="rect">
            <a:avLst/>
          </a:prstGeom>
          <a:solidFill>
            <a:srgbClr val="16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4389120"/>
            <a:ext cx="54864" cy="658368"/>
          </a:xfrm>
          <a:prstGeom prst="rect">
            <a:avLst/>
          </a:prstGeom>
          <a:solidFill>
            <a:srgbClr val="6FC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77240" y="4636008"/>
            <a:ext cx="152400" cy="152400"/>
          </a:xfrm>
          <a:prstGeom prst="ellipse">
            <a:avLst/>
          </a:prstGeom>
          <a:solidFill>
            <a:srgbClr val="6FC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78992" y="452628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6FCF8E"/>
                </a:solidFill>
                <a:latin typeface="Calibri"/>
              </a:rPr>
              <a:t>Winter Peak Stress Tester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475488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B3B1A8"/>
                </a:solidFill>
                <a:latin typeface="Calibri"/>
              </a:rPr>
              <a:t>Simulates a deep cold snap to see how heat pumps, EVs, and electric heaters push the grid.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120640"/>
            <a:ext cx="11064240" cy="658368"/>
          </a:xfrm>
          <a:prstGeom prst="rect">
            <a:avLst/>
          </a:prstGeom>
          <a:solidFill>
            <a:srgbClr val="16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5120640"/>
            <a:ext cx="54864" cy="658368"/>
          </a:xfrm>
          <a:prstGeom prst="rect">
            <a:avLst/>
          </a:prstGeom>
          <a:solidFill>
            <a:srgbClr val="E0A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77240" y="5367528"/>
            <a:ext cx="152400" cy="152400"/>
          </a:xfrm>
          <a:prstGeom prst="ellipse">
            <a:avLst/>
          </a:prstGeom>
          <a:solidFill>
            <a:srgbClr val="E0A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78992" y="525780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E0A44A"/>
                </a:solidFill>
                <a:latin typeface="Calibri"/>
              </a:rPr>
              <a:t>Electrification Readiness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548640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B3B1A8"/>
                </a:solidFill>
                <a:latin typeface="Calibri"/>
              </a:rPr>
              <a:t>Tells you which neighborhoods are ready for more electric vehicles and heat pumps, and which need help first.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852160"/>
            <a:ext cx="11064240" cy="658368"/>
          </a:xfrm>
          <a:prstGeom prst="rect">
            <a:avLst/>
          </a:prstGeom>
          <a:solidFill>
            <a:srgbClr val="16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5852160"/>
            <a:ext cx="54864" cy="658368"/>
          </a:xfrm>
          <a:prstGeom prst="rect">
            <a:avLst/>
          </a:prstGeom>
          <a:solidFill>
            <a:srgbClr val="C88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77240" y="6099048"/>
            <a:ext cx="152400" cy="152400"/>
          </a:xfrm>
          <a:prstGeom prst="ellipse">
            <a:avLst/>
          </a:prstGeom>
          <a:solidFill>
            <a:srgbClr val="C88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78992" y="598932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C889E6"/>
                </a:solidFill>
                <a:latin typeface="Calibri"/>
              </a:rPr>
              <a:t>Grid Investment Optimizer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" y="6217920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B3B1A8"/>
                </a:solidFill>
                <a:latin typeface="Calibri"/>
              </a:rPr>
              <a:t>Takes a fixed upgrade budget and finds the smartest way to spend it for the most protection against future climate disasters.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FAF9F5"/>
                </a:solidFill>
                <a:latin typeface="Calibri"/>
              </a:rPr>
              <a:t>SK</a:t>
            </a:r>
            <a:r>
              <a:rPr sz="1200" b="1">
                <a:solidFill>
                  <a:srgbClr val="F38764"/>
                </a:solidFill>
                <a:latin typeface="Calibri"/>
              </a:rPr>
              <a:t>O</a:t>
            </a:r>
            <a:r>
              <a:rPr sz="1200" b="1">
                <a:solidFill>
                  <a:srgbClr val="FAF9F5"/>
                </a:solidFill>
                <a:latin typeface="Calibri"/>
              </a:rPr>
              <a:t>RPIO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F6C63"/>
                </a:solidFill>
                <a:latin typeface="Consolas"/>
              </a:rPr>
              <a:t>04 · CHALLENGE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F6C63"/>
                </a:solidFill>
                <a:latin typeface="Consolas"/>
              </a:rPr>
              <a:t>04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0" i="0">
                <a:solidFill>
                  <a:srgbClr val="FAF9F5"/>
                </a:solidFill>
                <a:latin typeface="Georgia"/>
              </a:rPr>
              <a:t>Built for the challenge.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6F6C63"/>
                </a:solidFill>
                <a:latin typeface="Consolas"/>
              </a:rPr>
              <a:t>Smart Grid Resilience &amp; Preparing for Electrification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91840"/>
            <a:ext cx="5440680" cy="3108960"/>
          </a:xfrm>
          <a:prstGeom prst="rect">
            <a:avLst/>
          </a:prstGeom>
          <a:solidFill>
            <a:srgbClr val="16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3474720"/>
            <a:ext cx="5440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38764"/>
                </a:solidFill>
                <a:latin typeface="Consolas"/>
              </a:rPr>
              <a:t>RESILIENCE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94760"/>
            <a:ext cx="5440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FAF9F5"/>
                </a:solidFill>
                <a:latin typeface="Georgia"/>
              </a:rPr>
              <a:t>When the grid is stressed.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5029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F38764"/>
                </a:solidFill>
                <a:latin typeface="Calibri"/>
              </a:rPr>
              <a:t>—  </a:t>
            </a:r>
            <a:r>
              <a:rPr sz="1300" b="1">
                <a:solidFill>
                  <a:srgbClr val="FAF9F5"/>
                </a:solidFill>
                <a:latin typeface="Calibri"/>
              </a:rPr>
              <a:t>Winter Peak Stress Tester</a:t>
            </a:r>
            <a:r>
              <a:rPr sz="1300">
                <a:solidFill>
                  <a:srgbClr val="B3B1A8"/>
                </a:solidFill>
                <a:latin typeface="Calibri"/>
              </a:rPr>
              <a:t> — see how a deep-freeze hits your grid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F38764"/>
                </a:solidFill>
                <a:latin typeface="Calibri"/>
              </a:rPr>
              <a:t>—  </a:t>
            </a:r>
            <a:r>
              <a:rPr sz="1300" b="1">
                <a:solidFill>
                  <a:srgbClr val="FAF9F5"/>
                </a:solidFill>
                <a:latin typeface="Calibri"/>
              </a:rPr>
              <a:t>Investment Optimizer</a:t>
            </a:r>
            <a:r>
              <a:rPr sz="1300">
                <a:solidFill>
                  <a:srgbClr val="B3B1A8"/>
                </a:solidFill>
                <a:latin typeface="Calibri"/>
              </a:rPr>
              <a:t> — spend upgrade money where it protects most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3291840"/>
            <a:ext cx="5440680" cy="3108960"/>
          </a:xfrm>
          <a:prstGeom prst="rect">
            <a:avLst/>
          </a:prstGeom>
          <a:solidFill>
            <a:srgbClr val="16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3474720"/>
            <a:ext cx="5440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38764"/>
                </a:solidFill>
                <a:latin typeface="Consolas"/>
              </a:rPr>
              <a:t>ELECTRIFICATION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3794760"/>
            <a:ext cx="5440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FAF9F5"/>
                </a:solidFill>
                <a:latin typeface="Georgia"/>
              </a:rPr>
              <a:t>When demand is changing.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4572000"/>
            <a:ext cx="50292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F38764"/>
                </a:solidFill>
                <a:latin typeface="Calibri"/>
              </a:rPr>
              <a:t>—  </a:t>
            </a:r>
            <a:r>
              <a:rPr sz="1300" b="1">
                <a:solidFill>
                  <a:srgbClr val="FAF9F5"/>
                </a:solidFill>
                <a:latin typeface="Calibri"/>
              </a:rPr>
              <a:t>Electrification Readiness</a:t>
            </a:r>
            <a:r>
              <a:rPr sz="1300">
                <a:solidFill>
                  <a:srgbClr val="B3B1A8"/>
                </a:solidFill>
                <a:latin typeface="Calibri"/>
              </a:rPr>
              <a:t> — score neighborhoods for EV and heat pump growth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>
                <a:solidFill>
                  <a:srgbClr val="F38764"/>
                </a:solidFill>
                <a:latin typeface="Calibri"/>
              </a:rPr>
              <a:t>—  </a:t>
            </a:r>
            <a:r>
              <a:rPr sz="1300" b="1">
                <a:solidFill>
                  <a:srgbClr val="FAF9F5"/>
                </a:solidFill>
                <a:latin typeface="Calibri"/>
              </a:rPr>
              <a:t>Datacenter Siting + Expansion</a:t>
            </a:r>
            <a:r>
              <a:rPr sz="1300">
                <a:solidFill>
                  <a:srgbClr val="B3B1A8"/>
                </a:solidFill>
                <a:latin typeface="Calibri"/>
              </a:rPr>
              <a:t> — place big new power users wisely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F6C63"/>
                </a:solidFill>
                <a:latin typeface="Consolas"/>
              </a:rPr>
              <a:t>Canadian-first — uses live data from Ontario (IESO), Alberta (AESO), Quebec, and Natural Resources Canada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FAF9F5"/>
                </a:solidFill>
                <a:latin typeface="Calibri"/>
              </a:rPr>
              <a:t>SK</a:t>
            </a:r>
            <a:r>
              <a:rPr sz="1200" b="1">
                <a:solidFill>
                  <a:srgbClr val="F38764"/>
                </a:solidFill>
                <a:latin typeface="Calibri"/>
              </a:rPr>
              <a:t>O</a:t>
            </a:r>
            <a:r>
              <a:rPr sz="1200" b="1">
                <a:solidFill>
                  <a:srgbClr val="FAF9F5"/>
                </a:solidFill>
                <a:latin typeface="Calibri"/>
              </a:rPr>
              <a:t>RPIO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F6C63"/>
                </a:solidFill>
                <a:latin typeface="Consolas"/>
              </a:rPr>
              <a:t>05 · 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F6C63"/>
                </a:solidFill>
                <a:latin typeface="Consolas"/>
              </a:rPr>
              <a:t>05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0" i="0">
                <a:solidFill>
                  <a:srgbClr val="FAF9F5"/>
                </a:solidFill>
                <a:latin typeface="Georgia"/>
              </a:rPr>
              <a:t>$1 trillion+ in Canadian grid investment by 2050.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108960"/>
            <a:ext cx="3657600" cy="3291840"/>
          </a:xfrm>
          <a:prstGeom prst="rect">
            <a:avLst/>
          </a:prstGeom>
          <a:solidFill>
            <a:srgbClr val="16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38764"/>
                </a:solidFill>
                <a:latin typeface="Consolas"/>
              </a:rPr>
              <a:t>BY 2050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57600"/>
            <a:ext cx="32004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6600" b="0" i="0">
                <a:solidFill>
                  <a:srgbClr val="FAF9F5"/>
                </a:solidFill>
                <a:latin typeface="Georgia"/>
              </a:rPr>
              <a:t>$1T+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120640"/>
            <a:ext cx="32004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B3B1A8"/>
                </a:solidFill>
                <a:latin typeface="Calibri"/>
              </a:rPr>
              <a:t>Cost of doubling Canada's electricity grid to power EVs, heat pumps, and net-zero goals.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080263"/>
            <a:ext cx="3200400" cy="32053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 dirty="0">
                <a:solidFill>
                  <a:srgbClr val="6F6C63"/>
                </a:solidFill>
                <a:latin typeface="Consolas"/>
              </a:rPr>
              <a:t>Source: </a:t>
            </a:r>
            <a:r>
              <a:rPr sz="900" b="0" i="0" dirty="0" err="1">
                <a:solidFill>
                  <a:srgbClr val="6F6C63"/>
                </a:solidFill>
                <a:latin typeface="Consolas"/>
              </a:rPr>
              <a:t>NRCan</a:t>
            </a:r>
            <a:r>
              <a:rPr sz="900" b="0" i="0" dirty="0">
                <a:solidFill>
                  <a:srgbClr val="6F6C63"/>
                </a:solidFill>
                <a:latin typeface="Consolas"/>
              </a:rPr>
              <a:t>, Powering Canada Strong (national electricity strategy, May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200400"/>
            <a:ext cx="694944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>
                <a:solidFill>
                  <a:srgbClr val="F38764"/>
                </a:solidFill>
                <a:latin typeface="Calibri"/>
              </a:rPr>
              <a:t>—  </a:t>
            </a:r>
            <a:r>
              <a:rPr sz="1500" b="1">
                <a:solidFill>
                  <a:srgbClr val="FAF9F5"/>
                </a:solidFill>
                <a:latin typeface="Calibri"/>
              </a:rPr>
              <a:t>Whole market:</a:t>
            </a:r>
            <a:r>
              <a:rPr sz="1500">
                <a:solidFill>
                  <a:srgbClr val="B3B1A8"/>
                </a:solidFill>
                <a:latin typeface="Calibri"/>
              </a:rPr>
              <a:t> software for planning Canada's electricity grid.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>
                <a:solidFill>
                  <a:srgbClr val="F38764"/>
                </a:solidFill>
                <a:latin typeface="Calibri"/>
              </a:rPr>
              <a:t>—  </a:t>
            </a:r>
            <a:r>
              <a:rPr sz="1500" b="1">
                <a:solidFill>
                  <a:srgbClr val="FAF9F5"/>
                </a:solidFill>
                <a:latin typeface="Calibri"/>
              </a:rPr>
              <a:t>Realistic share:</a:t>
            </a:r>
            <a:r>
              <a:rPr sz="1500">
                <a:solidFill>
                  <a:srgbClr val="B3B1A8"/>
                </a:solidFill>
                <a:latin typeface="Calibri"/>
              </a:rPr>
              <a:t> 60+ Canadian utilities, plus federal and provincial planners and big cities.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>
                <a:solidFill>
                  <a:srgbClr val="F38764"/>
                </a:solidFill>
                <a:latin typeface="Calibri"/>
              </a:rPr>
              <a:t>—  </a:t>
            </a:r>
            <a:r>
              <a:rPr sz="1500" b="1">
                <a:solidFill>
                  <a:srgbClr val="FAF9F5"/>
                </a:solidFill>
                <a:latin typeface="Calibri"/>
              </a:rPr>
              <a:t>First customers:</a:t>
            </a:r>
            <a:r>
              <a:rPr sz="1500">
                <a:solidFill>
                  <a:srgbClr val="B3B1A8"/>
                </a:solidFill>
                <a:latin typeface="Calibri"/>
              </a:rPr>
              <a:t> mid-size local utilities facing the EV/heat pump wave first.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>
                <a:solidFill>
                  <a:srgbClr val="F38764"/>
                </a:solidFill>
                <a:latin typeface="Calibri"/>
              </a:rPr>
              <a:t>—  </a:t>
            </a:r>
            <a:r>
              <a:rPr sz="1500" b="1">
                <a:solidFill>
                  <a:srgbClr val="FAF9F5"/>
                </a:solidFill>
                <a:latin typeface="Calibri"/>
              </a:rPr>
              <a:t>Adjacent market:</a:t>
            </a:r>
            <a:r>
              <a:rPr sz="1500">
                <a:solidFill>
                  <a:srgbClr val="B3B1A8"/>
                </a:solidFill>
                <a:latin typeface="Calibri"/>
              </a:rPr>
              <a:t> global grid planning software, $2.04B in 2025 growing to $4.12B by 2030 (15.2% CAGR).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26364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6F6C63"/>
                </a:solidFill>
                <a:latin typeface="Consolas"/>
              </a:rPr>
              <a:t>Sources: NRCan Powering Canada Strong, 2026 (grid investment); The Business Research Company, Grid Planning Software Global Market Report, 2026 (adjacent market).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FAF9F5"/>
                </a:solidFill>
                <a:latin typeface="Calibri"/>
              </a:rPr>
              <a:t>SK</a:t>
            </a:r>
            <a:r>
              <a:rPr sz="1200" b="1">
                <a:solidFill>
                  <a:srgbClr val="F38764"/>
                </a:solidFill>
                <a:latin typeface="Calibri"/>
              </a:rPr>
              <a:t>O</a:t>
            </a:r>
            <a:r>
              <a:rPr sz="1200" b="1">
                <a:solidFill>
                  <a:srgbClr val="FAF9F5"/>
                </a:solidFill>
                <a:latin typeface="Calibri"/>
              </a:rPr>
              <a:t>RPIO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F6C63"/>
                </a:solidFill>
                <a:latin typeface="Consolas"/>
              </a:rPr>
              <a:t>06 · REVENUE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F6C63"/>
                </a:solidFill>
                <a:latin typeface="Consolas"/>
              </a:rPr>
              <a:t>06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0" i="0">
                <a:solidFill>
                  <a:srgbClr val="FAF9F5"/>
                </a:solidFill>
                <a:latin typeface="Georgia"/>
              </a:rPr>
              <a:t>Three ways customers pay.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F6C63"/>
                </a:solidFill>
                <a:latin typeface="Consolas"/>
              </a:rPr>
              <a:t>Pricing benchmarks based on comparable utility-planning tools (PowerWorld, Energy Exemplar AURORA, Siemens PSS/E). Final pricing TBD after pilots.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11064240" cy="640080"/>
          </a:xfrm>
          <a:prstGeom prst="rect">
            <a:avLst/>
          </a:prstGeom>
          <a:solidFill>
            <a:srgbClr val="16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" y="3355848"/>
            <a:ext cx="127000" cy="127000"/>
          </a:xfrm>
          <a:prstGeom prst="ellipse">
            <a:avLst/>
          </a:prstGeom>
          <a:solidFill>
            <a:srgbClr val="F38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3273552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AF9F5"/>
                </a:solidFill>
                <a:latin typeface="Calibri"/>
              </a:rPr>
              <a:t>Monthly subscriptions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32918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B3B1A8"/>
                </a:solidFill>
                <a:latin typeface="Calibri"/>
              </a:rPr>
              <a:t>Utility planners — about $1,200 per seat per 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3310128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F38764"/>
                </a:solidFill>
                <a:latin typeface="Consolas"/>
              </a:rPr>
              <a:t>RECURRING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22192"/>
            <a:ext cx="11064240" cy="640080"/>
          </a:xfrm>
          <a:prstGeom prst="rect">
            <a:avLst/>
          </a:prstGeom>
          <a:solidFill>
            <a:srgbClr val="16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77240" y="4069080"/>
            <a:ext cx="127000" cy="127000"/>
          </a:xfrm>
          <a:prstGeom prst="ellipse">
            <a:avLst/>
          </a:prstGeom>
          <a:solidFill>
            <a:srgbClr val="7AA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3986784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AF9F5"/>
                </a:solidFill>
                <a:latin typeface="Calibri"/>
              </a:rPr>
              <a:t>Enterprise contracts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4005072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B3B1A8"/>
                </a:solidFill>
                <a:latin typeface="Calibri"/>
              </a:rPr>
              <a:t>Large utilities and federal agencies — $250K to $2M per year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402336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AA2F7"/>
                </a:solidFill>
                <a:latin typeface="Consolas"/>
              </a:rPr>
              <a:t>RECURRING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35424"/>
            <a:ext cx="11064240" cy="640080"/>
          </a:xfrm>
          <a:prstGeom prst="rect">
            <a:avLst/>
          </a:prstGeom>
          <a:solidFill>
            <a:srgbClr val="16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77240" y="4782312"/>
            <a:ext cx="127000" cy="127000"/>
          </a:xfrm>
          <a:prstGeom prst="ellipse">
            <a:avLst/>
          </a:prstGeom>
          <a:solidFill>
            <a:srgbClr val="6FC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4700016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AF9F5"/>
                </a:solidFill>
                <a:latin typeface="Calibri"/>
              </a:rPr>
              <a:t>One-off studies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718304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B3B1A8"/>
                </a:solidFill>
                <a:latin typeface="Calibri"/>
              </a:rPr>
              <a:t>Consultants and developers — $25K to $100K per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4736592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6FCF8E"/>
                </a:solidFill>
                <a:latin typeface="Consolas"/>
              </a:rPr>
              <a:t>TRANSACTIONAL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248656"/>
            <a:ext cx="11064240" cy="640080"/>
          </a:xfrm>
          <a:prstGeom prst="rect">
            <a:avLst/>
          </a:prstGeom>
          <a:solidFill>
            <a:srgbClr val="16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77240" y="5495544"/>
            <a:ext cx="127000" cy="127000"/>
          </a:xfrm>
          <a:prstGeom prst="ellipse">
            <a:avLst/>
          </a:prstGeom>
          <a:solidFill>
            <a:srgbClr val="E0A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51560" y="5413248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AF9F5"/>
                </a:solidFill>
                <a:latin typeface="Calibri"/>
              </a:rPr>
              <a:t>Premium data add-ons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5431536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B3B1A8"/>
                </a:solidFill>
                <a:latin typeface="Calibri"/>
              </a:rPr>
              <a:t>Specialized datasets and live grid feeds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5449824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E0A44A"/>
                </a:solidFill>
                <a:latin typeface="Consolas"/>
              </a:rPr>
              <a:t>ADD-ON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961888"/>
            <a:ext cx="11064240" cy="640080"/>
          </a:xfrm>
          <a:prstGeom prst="rect">
            <a:avLst/>
          </a:prstGeom>
          <a:solidFill>
            <a:srgbClr val="16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77240" y="6208776"/>
            <a:ext cx="127000" cy="127000"/>
          </a:xfrm>
          <a:prstGeom prst="ellipse">
            <a:avLst/>
          </a:prstGeom>
          <a:solidFill>
            <a:srgbClr val="C88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51560" y="61264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AF9F5"/>
                </a:solidFill>
                <a:latin typeface="Calibri"/>
              </a:rPr>
              <a:t>Setup &amp; training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6144768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B3B1A8"/>
                </a:solidFill>
                <a:latin typeface="Calibri"/>
              </a:rPr>
              <a:t>Hands-on help getting big customers up and running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163056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C889E6"/>
                </a:solidFill>
                <a:latin typeface="Consolas"/>
              </a:rPr>
              <a:t>SERVICES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FAF9F5"/>
                </a:solidFill>
                <a:latin typeface="Calibri"/>
              </a:rPr>
              <a:t>SK</a:t>
            </a:r>
            <a:r>
              <a:rPr sz="1200" b="1">
                <a:solidFill>
                  <a:srgbClr val="F38764"/>
                </a:solidFill>
                <a:latin typeface="Calibri"/>
              </a:rPr>
              <a:t>O</a:t>
            </a:r>
            <a:r>
              <a:rPr sz="1200" b="1">
                <a:solidFill>
                  <a:srgbClr val="FAF9F5"/>
                </a:solidFill>
                <a:latin typeface="Calibri"/>
              </a:rPr>
              <a:t>RPIO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F6C63"/>
                </a:solidFill>
                <a:latin typeface="Consolas"/>
              </a:rPr>
              <a:t>07 ·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F6C63"/>
                </a:solidFill>
                <a:latin typeface="Consolas"/>
              </a:rPr>
              <a:t>07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0" i="0">
                <a:solidFill>
                  <a:srgbClr val="FAF9F5"/>
                </a:solidFill>
                <a:latin typeface="Georgia"/>
              </a:rPr>
              <a:t>From hackathon to platform.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108960"/>
            <a:ext cx="2697480" cy="3200400"/>
          </a:xfrm>
          <a:prstGeom prst="rect">
            <a:avLst/>
          </a:prstGeom>
          <a:solidFill>
            <a:srgbClr val="16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97480" cy="54864"/>
          </a:xfrm>
          <a:prstGeom prst="rect">
            <a:avLst/>
          </a:prstGeom>
          <a:solidFill>
            <a:srgbClr val="F38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38764"/>
                </a:solidFill>
                <a:latin typeface="Consolas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11880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F6C63"/>
                </a:solidFill>
                <a:latin typeface="Consolas"/>
              </a:rPr>
              <a:t>Q2 '26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7764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FAF9F5"/>
                </a:solidFill>
                <a:latin typeface="Georgia"/>
              </a:rPr>
              <a:t>First 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22402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B3B1A8"/>
                </a:solidFill>
                <a:latin typeface="Calibri"/>
              </a:rPr>
              <a:t>5 analysis types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B3B1A8"/>
                </a:solidFill>
                <a:latin typeface="Calibri"/>
              </a:rPr>
              <a:t>First customer testing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B3B1A8"/>
                </a:solidFill>
                <a:latin typeface="Calibri"/>
              </a:rPr>
              <a:t>Web dashboard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3108960"/>
            <a:ext cx="2697480" cy="3200400"/>
          </a:xfrm>
          <a:prstGeom prst="rect">
            <a:avLst/>
          </a:prstGeom>
          <a:solidFill>
            <a:srgbClr val="16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83280" y="3108960"/>
            <a:ext cx="2697480" cy="54864"/>
          </a:xfrm>
          <a:prstGeom prst="rect">
            <a:avLst/>
          </a:prstGeom>
          <a:solidFill>
            <a:srgbClr val="7AA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1880" y="3337560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AA2F7"/>
                </a:solidFill>
                <a:latin typeface="Consolas"/>
              </a:rPr>
              <a:t>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611880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F6C63"/>
                </a:solidFill>
                <a:latin typeface="Consolas"/>
              </a:rPr>
              <a:t>Q3 '26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97764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FAF9F5"/>
                </a:solidFill>
                <a:latin typeface="Georgia"/>
              </a:rPr>
              <a:t>Live grid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663440"/>
            <a:ext cx="22402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B3B1A8"/>
                </a:solidFill>
                <a:latin typeface="Calibri"/>
              </a:rPr>
              <a:t>Real-time feeds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B3B1A8"/>
                </a:solidFill>
                <a:latin typeface="Calibri"/>
              </a:rPr>
              <a:t>Multiple companies at once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B3B1A8"/>
                </a:solidFill>
                <a:latin typeface="Calibri"/>
              </a:rPr>
              <a:t>Full activity logs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108960"/>
            <a:ext cx="2697480" cy="3200400"/>
          </a:xfrm>
          <a:prstGeom prst="rect">
            <a:avLst/>
          </a:prstGeom>
          <a:solidFill>
            <a:srgbClr val="16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3108960"/>
            <a:ext cx="2697480" cy="54864"/>
          </a:xfrm>
          <a:prstGeom prst="rect">
            <a:avLst/>
          </a:prstGeom>
          <a:solidFill>
            <a:srgbClr val="6FC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3337560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FCF8E"/>
                </a:solidFill>
                <a:latin typeface="Consolas"/>
              </a:rPr>
              <a:t>LATER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611880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F6C63"/>
                </a:solidFill>
                <a:latin typeface="Consolas"/>
              </a:rPr>
              <a:t>Q4 '26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97764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FAF9F5"/>
                </a:solidFill>
                <a:latin typeface="Georgia"/>
              </a:rPr>
              <a:t>Plug-in mode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663440"/>
            <a:ext cx="22402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B3B1A8"/>
                </a:solidFill>
                <a:latin typeface="Calibri"/>
              </a:rPr>
              <a:t>Connects to grid mapping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B3B1A8"/>
                </a:solidFill>
                <a:latin typeface="Calibri"/>
              </a:rPr>
              <a:t>  and control software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B3B1A8"/>
                </a:solidFill>
                <a:latin typeface="Calibri"/>
              </a:rPr>
              <a:t>Customer-branded versions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3108960"/>
            <a:ext cx="2697480" cy="3200400"/>
          </a:xfrm>
          <a:prstGeom prst="rect">
            <a:avLst/>
          </a:prstGeom>
          <a:solidFill>
            <a:srgbClr val="16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52560" y="3108960"/>
            <a:ext cx="2697480" cy="54864"/>
          </a:xfrm>
          <a:prstGeom prst="rect">
            <a:avLst/>
          </a:prstGeom>
          <a:solidFill>
            <a:srgbClr val="C88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81160" y="3337560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C889E6"/>
                </a:solidFill>
                <a:latin typeface="Consolas"/>
              </a:rPr>
              <a:t>2027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3611880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F6C63"/>
                </a:solidFill>
                <a:latin typeface="Consolas"/>
              </a:rPr>
              <a:t>2027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397764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FAF9F5"/>
                </a:solidFill>
                <a:latin typeface="Georgia"/>
              </a:rPr>
              <a:t>Self-driving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4663440"/>
            <a:ext cx="22402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B3B1A8"/>
                </a:solidFill>
                <a:latin typeface="Calibri"/>
              </a:rPr>
              <a:t>AI-improved forecasting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B3B1A8"/>
                </a:solidFill>
                <a:latin typeface="Calibri"/>
              </a:rPr>
              <a:t>Auto-generated what-if scenarios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FAF9F5"/>
                </a:solidFill>
                <a:latin typeface="Calibri"/>
              </a:rPr>
              <a:t>SK</a:t>
            </a:r>
            <a:r>
              <a:rPr sz="1200" b="1">
                <a:solidFill>
                  <a:srgbClr val="F38764"/>
                </a:solidFill>
                <a:latin typeface="Calibri"/>
              </a:rPr>
              <a:t>O</a:t>
            </a:r>
            <a:r>
              <a:rPr sz="1200" b="1">
                <a:solidFill>
                  <a:srgbClr val="FAF9F5"/>
                </a:solidFill>
                <a:latin typeface="Calibri"/>
              </a:rPr>
              <a:t>RPIO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F6C63"/>
                </a:solidFill>
                <a:latin typeface="Consolas"/>
              </a:rPr>
              <a:t>08 · 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F6C63"/>
                </a:solidFill>
                <a:latin typeface="Consolas"/>
              </a:rPr>
              <a:t>08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0" i="0">
                <a:solidFill>
                  <a:srgbClr val="FAF9F5"/>
                </a:solidFill>
                <a:latin typeface="Georgia"/>
              </a:rPr>
              <a:t>Next 90 days.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1097280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F38764"/>
                </a:solidFill>
                <a:latin typeface="Calibri"/>
              </a:rPr>
              <a:t>—  </a:t>
            </a:r>
            <a:r>
              <a:rPr sz="1600" b="1">
                <a:solidFill>
                  <a:srgbClr val="FAF9F5"/>
                </a:solidFill>
                <a:latin typeface="Calibri"/>
              </a:rPr>
              <a:t>Pilot with 1–2 Canadian utilities</a:t>
            </a:r>
            <a:r>
              <a:rPr sz="1600">
                <a:solidFill>
                  <a:srgbClr val="B3B1A8"/>
                </a:solidFill>
                <a:latin typeface="Calibri"/>
              </a:rPr>
              <a:t> to prove the workflow on real grid data.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F38764"/>
                </a:solidFill>
                <a:latin typeface="Calibri"/>
              </a:rPr>
              <a:t>—  </a:t>
            </a:r>
            <a:r>
              <a:rPr sz="1600" b="1">
                <a:solidFill>
                  <a:srgbClr val="FAF9F5"/>
                </a:solidFill>
                <a:latin typeface="Calibri"/>
              </a:rPr>
              <a:t>Build a Remote Community tool</a:t>
            </a:r>
            <a:r>
              <a:rPr sz="1600">
                <a:solidFill>
                  <a:srgbClr val="B3B1A8"/>
                </a:solidFill>
                <a:latin typeface="Calibri"/>
              </a:rPr>
              <a:t> to help Canada's ~280 off-grid towns switch from diesel to renewables.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F38764"/>
                </a:solidFill>
                <a:latin typeface="Calibri"/>
              </a:rPr>
              <a:t>—  </a:t>
            </a:r>
            <a:r>
              <a:rPr sz="1600" b="1">
                <a:solidFill>
                  <a:srgbClr val="FAF9F5"/>
                </a:solidFill>
                <a:latin typeface="Calibri"/>
              </a:rPr>
              <a:t>Live grid stress dashboard</a:t>
            </a:r>
            <a:r>
              <a:rPr sz="1600">
                <a:solidFill>
                  <a:srgbClr val="B3B1A8"/>
                </a:solidFill>
                <a:latin typeface="Calibri"/>
              </a:rPr>
              <a:t> showing real-time conditions and what people can do to help.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F38764"/>
                </a:solidFill>
                <a:latin typeface="Calibri"/>
              </a:rPr>
              <a:t>—  </a:t>
            </a:r>
            <a:r>
              <a:rPr sz="1600" b="1">
                <a:solidFill>
                  <a:srgbClr val="FAF9F5"/>
                </a:solidFill>
                <a:latin typeface="Calibri"/>
              </a:rPr>
              <a:t>Open the platform</a:t>
            </a:r>
            <a:r>
              <a:rPr sz="1600">
                <a:solidFill>
                  <a:srgbClr val="B3B1A8"/>
                </a:solidFill>
                <a:latin typeface="Calibri"/>
              </a:rPr>
              <a:t> so outside teams can build their own analysis tools on Skorpio.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600">
                <a:solidFill>
                  <a:srgbClr val="F38764"/>
                </a:solidFill>
                <a:latin typeface="Calibri"/>
              </a:rPr>
              <a:t>—  </a:t>
            </a:r>
            <a:r>
              <a:rPr sz="1600" b="1">
                <a:solidFill>
                  <a:srgbClr val="FAF9F5"/>
                </a:solidFill>
                <a:latin typeface="Calibri"/>
              </a:rPr>
              <a:t>Grow the team</a:t>
            </a:r>
            <a:r>
              <a:rPr sz="1600">
                <a:solidFill>
                  <a:srgbClr val="B3B1A8"/>
                </a:solidFill>
                <a:latin typeface="Calibri"/>
              </a:rPr>
              <a:t> — add 1 backend engineer, 1 data engineer, 1 customer success lead.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8288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FAF9F5"/>
                </a:solidFill>
                <a:latin typeface="Calibri"/>
              </a:rPr>
              <a:t>SK</a:t>
            </a:r>
            <a:r>
              <a:rPr sz="1200" b="1">
                <a:solidFill>
                  <a:srgbClr val="F38764"/>
                </a:solidFill>
                <a:latin typeface="Calibri"/>
              </a:rPr>
              <a:t>O</a:t>
            </a:r>
            <a:r>
              <a:rPr sz="1200" b="1">
                <a:solidFill>
                  <a:srgbClr val="FAF9F5"/>
                </a:solidFill>
                <a:latin typeface="Calibri"/>
              </a:rPr>
              <a:t>RPIO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F6C63"/>
                </a:solidFill>
                <a:latin typeface="Consolas"/>
              </a:rPr>
              <a:t>09 ·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F6C63"/>
                </a:solidFill>
                <a:latin typeface="Consolas"/>
              </a:rPr>
              <a:t>09 /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0" i="0">
                <a:solidFill>
                  <a:srgbClr val="FAF9F5"/>
                </a:solidFill>
                <a:latin typeface="Georgia"/>
              </a:rPr>
              <a:t>Built modern, ready to grow, Canadian data first.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108960"/>
            <a:ext cx="2157984" cy="3108960"/>
          </a:xfrm>
          <a:prstGeom prst="rect">
            <a:avLst/>
          </a:prstGeom>
          <a:solidFill>
            <a:srgbClr val="16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215798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B3B1A8"/>
                </a:solidFill>
                <a:latin typeface="Consolas"/>
              </a:rPr>
              <a:t>WHAT YOU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86200"/>
            <a:ext cx="1700784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FAF9F5"/>
                </a:solidFill>
                <a:latin typeface="Calibri"/>
              </a:rPr>
              <a:t>A clean web dashboard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AF9F5"/>
                </a:solidFill>
                <a:latin typeface="Calibri"/>
              </a:rPr>
              <a:t>(React, TypeScript)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AF9F5"/>
                </a:solidFill>
                <a:latin typeface="Calibri"/>
              </a:rPr>
              <a:t>built for grid planners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3108960"/>
            <a:ext cx="2157984" cy="3108960"/>
          </a:xfrm>
          <a:prstGeom prst="rect">
            <a:avLst/>
          </a:prstGeom>
          <a:solidFill>
            <a:srgbClr val="16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63240" y="3337560"/>
            <a:ext cx="215798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B3B1A8"/>
                </a:solidFill>
                <a:latin typeface="Consolas"/>
              </a:rPr>
              <a:t>BEHIND THE SCENES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886200"/>
            <a:ext cx="1700784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FAF9F5"/>
                </a:solidFill>
                <a:latin typeface="Calibri"/>
              </a:rPr>
              <a:t>A Python web service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AF9F5"/>
                </a:solidFill>
                <a:latin typeface="Calibri"/>
              </a:rPr>
              <a:t>streams answers live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AF9F5"/>
                </a:solidFill>
                <a:latin typeface="Calibri"/>
              </a:rPr>
              <a:t>as the AI reasons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3108960"/>
            <a:ext cx="2157984" cy="3108960"/>
          </a:xfrm>
          <a:prstGeom prst="rect">
            <a:avLst/>
          </a:prstGeom>
          <a:solidFill>
            <a:srgbClr val="16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49240" y="3337560"/>
            <a:ext cx="215798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38764"/>
                </a:solidFill>
                <a:latin typeface="Consolas"/>
              </a:rPr>
              <a:t>THE BRAIN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3886200"/>
            <a:ext cx="1700784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FAF9F5"/>
                </a:solidFill>
                <a:latin typeface="Calibri"/>
              </a:rPr>
              <a:t>Claude AI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AF9F5"/>
                </a:solidFill>
                <a:latin typeface="Calibri"/>
              </a:rPr>
              <a:t>(Sonnet, Opus, Haiku)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AF9F5"/>
                </a:solidFill>
                <a:latin typeface="Calibri"/>
              </a:rPr>
              <a:t>with custom energy tools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3108960"/>
            <a:ext cx="2157984" cy="3108960"/>
          </a:xfrm>
          <a:prstGeom prst="rect">
            <a:avLst/>
          </a:prstGeom>
          <a:solidFill>
            <a:srgbClr val="16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35240" y="3337560"/>
            <a:ext cx="215798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FCF8E"/>
                </a:solidFill>
                <a:latin typeface="Consolas"/>
              </a:rPr>
              <a:t>THE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3886200"/>
            <a:ext cx="1700784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FAF9F5"/>
                </a:solidFill>
                <a:latin typeface="Calibri"/>
              </a:rPr>
              <a:t>Live grid feeds: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AF9F5"/>
                </a:solidFill>
                <a:latin typeface="Calibri"/>
              </a:rPr>
              <a:t>IESO, AESO, Hydro-Québec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AF9F5"/>
                </a:solidFill>
                <a:latin typeface="Calibri"/>
              </a:rPr>
              <a:t>Weather, prices, carbon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3108960"/>
            <a:ext cx="2157984" cy="3108960"/>
          </a:xfrm>
          <a:prstGeom prst="rect">
            <a:avLst/>
          </a:prstGeom>
          <a:solidFill>
            <a:srgbClr val="16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21240" y="3337560"/>
            <a:ext cx="215798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AA2F7"/>
                </a:solidFill>
                <a:latin typeface="Consolas"/>
              </a:rPr>
              <a:t>HOW IT RUNS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3886200"/>
            <a:ext cx="1700784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FAF9F5"/>
                </a:solidFill>
                <a:latin typeface="Calibri"/>
              </a:rPr>
              <a:t>Docker containers,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AF9F5"/>
                </a:solidFill>
                <a:latin typeface="Calibri"/>
              </a:rPr>
              <a:t>Snowflake for analytics,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AF9F5"/>
                </a:solidFill>
                <a:latin typeface="Calibri"/>
              </a:rPr>
              <a:t>automated testing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F38764"/>
                </a:solidFill>
                <a:latin typeface="Georgia"/>
              </a:rPr>
              <a:t>Thanks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967</Words>
  <Application>Microsoft Office PowerPoint</Application>
  <PresentationFormat>Widescreen</PresentationFormat>
  <Paragraphs>147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Maximilian Ali</cp:lastModifiedBy>
  <cp:revision>2</cp:revision>
  <dcterms:created xsi:type="dcterms:W3CDTF">2013-01-27T09:14:16Z</dcterms:created>
  <dcterms:modified xsi:type="dcterms:W3CDTF">2026-05-23T16:24:19Z</dcterms:modified>
  <cp:category/>
</cp:coreProperties>
</file>